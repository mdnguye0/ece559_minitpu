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
  </p:notes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66"/>
    <a:srgbClr val="6B44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0374B3-6028-4D88-8C6E-32953D306CE6}" v="14" dt="2026-04-27T01:16:59.6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94660"/>
  </p:normalViewPr>
  <p:slideViewPr>
    <p:cSldViewPr snapToGrid="0">
      <p:cViewPr varScale="1">
        <p:scale>
          <a:sx n="17" d="100"/>
          <a:sy n="17" d="100"/>
        </p:scale>
        <p:origin x="126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98666-2285-4032-949A-0797CE4BFDA9}" type="datetimeFigureOut">
              <a:rPr lang="en-US" smtClean="0"/>
              <a:t>4/26/2026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58F7E7-661E-47F1-A441-12186B253CC4}" type="slidenum">
              <a:rPr lang="en-US" smtClean="0"/>
              <a:t>‹#›</a:t>
            </a:fld>
            <a:endParaRPr lang="en-US"/>
          </a:p>
        </p:txBody>
      </p:sp>
    </p:spTree>
    <p:extLst>
      <p:ext uri="{BB962C8B-B14F-4D97-AF65-F5344CB8AC3E}">
        <p14:creationId xmlns:p14="http://schemas.microsoft.com/office/powerpoint/2010/main" val="1810085516"/>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58F7E7-661E-47F1-A441-12186B253CC4}" type="slidenum">
              <a:rPr lang="en-US" smtClean="0"/>
              <a:t>1</a:t>
            </a:fld>
            <a:endParaRPr lang="en-US"/>
          </a:p>
        </p:txBody>
      </p:sp>
    </p:spTree>
    <p:extLst>
      <p:ext uri="{BB962C8B-B14F-4D97-AF65-F5344CB8AC3E}">
        <p14:creationId xmlns:p14="http://schemas.microsoft.com/office/powerpoint/2010/main" val="1794291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DEDDB0-42CD-4764-84E4-7D364323221C}"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401361-D541-4EF0-AC28-DD447F998A66}" type="slidenum">
              <a:rPr lang="en-US" smtClean="0"/>
              <a:t>‹#›</a:t>
            </a:fld>
            <a:endParaRPr lang="en-US"/>
          </a:p>
        </p:txBody>
      </p:sp>
    </p:spTree>
    <p:extLst>
      <p:ext uri="{BB962C8B-B14F-4D97-AF65-F5344CB8AC3E}">
        <p14:creationId xmlns:p14="http://schemas.microsoft.com/office/powerpoint/2010/main" val="4169715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DEDDB0-42CD-4764-84E4-7D364323221C}"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401361-D541-4EF0-AC28-DD447F998A66}" type="slidenum">
              <a:rPr lang="en-US" smtClean="0"/>
              <a:t>‹#›</a:t>
            </a:fld>
            <a:endParaRPr lang="en-US"/>
          </a:p>
        </p:txBody>
      </p:sp>
    </p:spTree>
    <p:extLst>
      <p:ext uri="{BB962C8B-B14F-4D97-AF65-F5344CB8AC3E}">
        <p14:creationId xmlns:p14="http://schemas.microsoft.com/office/powerpoint/2010/main" val="2902807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DEDDB0-42CD-4764-84E4-7D364323221C}"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401361-D541-4EF0-AC28-DD447F998A66}" type="slidenum">
              <a:rPr lang="en-US" smtClean="0"/>
              <a:t>‹#›</a:t>
            </a:fld>
            <a:endParaRPr lang="en-US"/>
          </a:p>
        </p:txBody>
      </p:sp>
    </p:spTree>
    <p:extLst>
      <p:ext uri="{BB962C8B-B14F-4D97-AF65-F5344CB8AC3E}">
        <p14:creationId xmlns:p14="http://schemas.microsoft.com/office/powerpoint/2010/main" val="878564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DEDDB0-42CD-4764-84E4-7D364323221C}"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401361-D541-4EF0-AC28-DD447F998A66}" type="slidenum">
              <a:rPr lang="en-US" smtClean="0"/>
              <a:t>‹#›</a:t>
            </a:fld>
            <a:endParaRPr lang="en-US"/>
          </a:p>
        </p:txBody>
      </p:sp>
    </p:spTree>
    <p:extLst>
      <p:ext uri="{BB962C8B-B14F-4D97-AF65-F5344CB8AC3E}">
        <p14:creationId xmlns:p14="http://schemas.microsoft.com/office/powerpoint/2010/main" val="3010044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DEDDB0-42CD-4764-84E4-7D364323221C}" type="datetimeFigureOut">
              <a:rPr lang="en-US" smtClean="0"/>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401361-D541-4EF0-AC28-DD447F998A66}" type="slidenum">
              <a:rPr lang="en-US" smtClean="0"/>
              <a:t>‹#›</a:t>
            </a:fld>
            <a:endParaRPr lang="en-US"/>
          </a:p>
        </p:txBody>
      </p:sp>
    </p:spTree>
    <p:extLst>
      <p:ext uri="{BB962C8B-B14F-4D97-AF65-F5344CB8AC3E}">
        <p14:creationId xmlns:p14="http://schemas.microsoft.com/office/powerpoint/2010/main" val="1489120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DEDDB0-42CD-4764-84E4-7D364323221C}" type="datetimeFigureOut">
              <a:rPr lang="en-US" smtClean="0"/>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401361-D541-4EF0-AC28-DD447F998A66}" type="slidenum">
              <a:rPr lang="en-US" smtClean="0"/>
              <a:t>‹#›</a:t>
            </a:fld>
            <a:endParaRPr lang="en-US"/>
          </a:p>
        </p:txBody>
      </p:sp>
    </p:spTree>
    <p:extLst>
      <p:ext uri="{BB962C8B-B14F-4D97-AF65-F5344CB8AC3E}">
        <p14:creationId xmlns:p14="http://schemas.microsoft.com/office/powerpoint/2010/main" val="3643379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DEDDB0-42CD-4764-84E4-7D364323221C}" type="datetimeFigureOut">
              <a:rPr lang="en-US" smtClean="0"/>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401361-D541-4EF0-AC28-DD447F998A66}" type="slidenum">
              <a:rPr lang="en-US" smtClean="0"/>
              <a:t>‹#›</a:t>
            </a:fld>
            <a:endParaRPr lang="en-US"/>
          </a:p>
        </p:txBody>
      </p:sp>
    </p:spTree>
    <p:extLst>
      <p:ext uri="{BB962C8B-B14F-4D97-AF65-F5344CB8AC3E}">
        <p14:creationId xmlns:p14="http://schemas.microsoft.com/office/powerpoint/2010/main" val="4135902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98DEDDB0-42CD-4764-84E4-7D364323221C}"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401361-D541-4EF0-AC28-DD447F998A66}" type="slidenum">
              <a:rPr lang="en-US" smtClean="0"/>
              <a:t>‹#›</a:t>
            </a:fld>
            <a:endParaRPr lang="en-US"/>
          </a:p>
        </p:txBody>
      </p:sp>
    </p:spTree>
    <p:extLst>
      <p:ext uri="{BB962C8B-B14F-4D97-AF65-F5344CB8AC3E}">
        <p14:creationId xmlns:p14="http://schemas.microsoft.com/office/powerpoint/2010/main" val="2217062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98DEDDB0-42CD-4764-84E4-7D364323221C}"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401361-D541-4EF0-AC28-DD447F998A66}" type="slidenum">
              <a:rPr lang="en-US" smtClean="0"/>
              <a:t>‹#›</a:t>
            </a:fld>
            <a:endParaRPr lang="en-US"/>
          </a:p>
        </p:txBody>
      </p:sp>
    </p:spTree>
    <p:extLst>
      <p:ext uri="{BB962C8B-B14F-4D97-AF65-F5344CB8AC3E}">
        <p14:creationId xmlns:p14="http://schemas.microsoft.com/office/powerpoint/2010/main" val="875483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DEDDB0-42CD-4764-84E4-7D364323221C}"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401361-D541-4EF0-AC28-DD447F998A66}" type="slidenum">
              <a:rPr lang="en-US" smtClean="0"/>
              <a:t>‹#›</a:t>
            </a:fld>
            <a:endParaRPr lang="en-US"/>
          </a:p>
        </p:txBody>
      </p:sp>
    </p:spTree>
    <p:extLst>
      <p:ext uri="{BB962C8B-B14F-4D97-AF65-F5344CB8AC3E}">
        <p14:creationId xmlns:p14="http://schemas.microsoft.com/office/powerpoint/2010/main" val="4024631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DEDDB0-42CD-4764-84E4-7D364323221C}"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401361-D541-4EF0-AC28-DD447F998A66}" type="slidenum">
              <a:rPr lang="en-US" smtClean="0"/>
              <a:t>‹#›</a:t>
            </a:fld>
            <a:endParaRPr lang="en-US"/>
          </a:p>
        </p:txBody>
      </p:sp>
    </p:spTree>
    <p:extLst>
      <p:ext uri="{BB962C8B-B14F-4D97-AF65-F5344CB8AC3E}">
        <p14:creationId xmlns:p14="http://schemas.microsoft.com/office/powerpoint/2010/main" val="213502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98DEDDB0-42CD-4764-84E4-7D364323221C}" type="datetimeFigureOut">
              <a:rPr lang="en-US" smtClean="0"/>
              <a:t>4/26/2026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46401361-D541-4EF0-AC28-DD447F998A66}" type="slidenum">
              <a:rPr lang="en-US" smtClean="0"/>
              <a:t>‹#›</a:t>
            </a:fld>
            <a:endParaRPr lang="en-US"/>
          </a:p>
        </p:txBody>
      </p:sp>
    </p:spTree>
    <p:extLst>
      <p:ext uri="{BB962C8B-B14F-4D97-AF65-F5344CB8AC3E}">
        <p14:creationId xmlns:p14="http://schemas.microsoft.com/office/powerpoint/2010/main" val="68036684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E5F5DAC7-F58C-8CDD-CCD4-BE403445F0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04822" y="5803225"/>
            <a:ext cx="12341936" cy="6942339"/>
          </a:xfrm>
          <a:prstGeom prst="rect">
            <a:avLst/>
          </a:prstGeom>
        </p:spPr>
      </p:pic>
      <p:sp>
        <p:nvSpPr>
          <p:cNvPr id="4" name="Rectangle 3">
            <a:extLst>
              <a:ext uri="{FF2B5EF4-FFF2-40B4-BE49-F238E27FC236}">
                <a16:creationId xmlns:a16="http://schemas.microsoft.com/office/drawing/2014/main" id="{2D2B12ED-2B8F-5465-6227-8ED2A687D122}"/>
              </a:ext>
            </a:extLst>
          </p:cNvPr>
          <p:cNvSpPr/>
          <p:nvPr/>
        </p:nvSpPr>
        <p:spPr>
          <a:xfrm>
            <a:off x="0" y="0"/>
            <a:ext cx="43891200" cy="5372100"/>
          </a:xfrm>
          <a:prstGeom prst="rect">
            <a:avLst/>
          </a:prstGeom>
          <a:solidFill>
            <a:srgbClr val="003366"/>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26EB7A95-D860-D8ED-6176-527AF525AFDB}"/>
              </a:ext>
            </a:extLst>
          </p:cNvPr>
          <p:cNvSpPr txBox="1"/>
          <p:nvPr/>
        </p:nvSpPr>
        <p:spPr>
          <a:xfrm>
            <a:off x="11958637" y="747058"/>
            <a:ext cx="23360063" cy="1938992"/>
          </a:xfrm>
          <a:prstGeom prst="rect">
            <a:avLst/>
          </a:prstGeom>
          <a:noFill/>
        </p:spPr>
        <p:txBody>
          <a:bodyPr wrap="square" rtlCol="0">
            <a:spAutoFit/>
          </a:bodyPr>
          <a:lstStyle/>
          <a:p>
            <a:r>
              <a:rPr lang="en-US" sz="12000" b="1" dirty="0">
                <a:solidFill>
                  <a:schemeClr val="bg1"/>
                </a:solidFill>
                <a:latin typeface="Helvetica" panose="020B0604020202020204" pitchFamily="34" charset="0"/>
                <a:ea typeface="Roboto" panose="02000000000000000000" pitchFamily="2" charset="0"/>
                <a:cs typeface="Helvetica" panose="020B0604020202020204" pitchFamily="34" charset="0"/>
              </a:rPr>
              <a:t>Tiny TPU: From RTL to </a:t>
            </a:r>
            <a:r>
              <a:rPr lang="en-US" sz="12000" b="1" dirty="0" err="1">
                <a:solidFill>
                  <a:schemeClr val="bg1"/>
                </a:solidFill>
                <a:latin typeface="Helvetica" panose="020B0604020202020204" pitchFamily="34" charset="0"/>
                <a:ea typeface="Roboto" panose="02000000000000000000" pitchFamily="2" charset="0"/>
                <a:cs typeface="Helvetica" panose="020B0604020202020204" pitchFamily="34" charset="0"/>
              </a:rPr>
              <a:t>PnR</a:t>
            </a:r>
            <a:endParaRPr lang="en-US" sz="12000" b="1" dirty="0">
              <a:solidFill>
                <a:schemeClr val="bg1"/>
              </a:solidFill>
              <a:latin typeface="Helvetica" panose="020B0604020202020204" pitchFamily="34" charset="0"/>
              <a:ea typeface="Roboto" panose="02000000000000000000" pitchFamily="2" charset="0"/>
              <a:cs typeface="Helvetica" panose="020B0604020202020204" pitchFamily="34" charset="0"/>
            </a:endParaRPr>
          </a:p>
        </p:txBody>
      </p:sp>
      <p:sp>
        <p:nvSpPr>
          <p:cNvPr id="7" name="TextBox 6">
            <a:extLst>
              <a:ext uri="{FF2B5EF4-FFF2-40B4-BE49-F238E27FC236}">
                <a16:creationId xmlns:a16="http://schemas.microsoft.com/office/drawing/2014/main" id="{78327661-08D9-F0EE-7AD4-788C46C99A08}"/>
              </a:ext>
            </a:extLst>
          </p:cNvPr>
          <p:cNvSpPr txBox="1"/>
          <p:nvPr/>
        </p:nvSpPr>
        <p:spPr>
          <a:xfrm>
            <a:off x="16859250" y="2686050"/>
            <a:ext cx="16173450" cy="1015663"/>
          </a:xfrm>
          <a:prstGeom prst="rect">
            <a:avLst/>
          </a:prstGeom>
          <a:noFill/>
        </p:spPr>
        <p:txBody>
          <a:bodyPr wrap="square" rtlCol="0">
            <a:spAutoFit/>
          </a:bodyPr>
          <a:lstStyle/>
          <a:p>
            <a:r>
              <a:rPr lang="en-US" sz="6000" dirty="0">
                <a:solidFill>
                  <a:schemeClr val="bg1"/>
                </a:solidFill>
                <a:latin typeface="Helvetica" panose="020B0604020202020204" pitchFamily="34" charset="0"/>
                <a:cs typeface="Helvetica" panose="020B0604020202020204" pitchFamily="34" charset="0"/>
              </a:rPr>
              <a:t>Minh Nguyen | Manh Tran</a:t>
            </a:r>
          </a:p>
        </p:txBody>
      </p:sp>
      <p:sp>
        <p:nvSpPr>
          <p:cNvPr id="8" name="TextBox 7">
            <a:extLst>
              <a:ext uri="{FF2B5EF4-FFF2-40B4-BE49-F238E27FC236}">
                <a16:creationId xmlns:a16="http://schemas.microsoft.com/office/drawing/2014/main" id="{6D967539-76D6-FF4B-D6D6-D56E196923B3}"/>
              </a:ext>
            </a:extLst>
          </p:cNvPr>
          <p:cNvSpPr txBox="1"/>
          <p:nvPr/>
        </p:nvSpPr>
        <p:spPr>
          <a:xfrm>
            <a:off x="15125700" y="3736806"/>
            <a:ext cx="16173450" cy="1015663"/>
          </a:xfrm>
          <a:prstGeom prst="rect">
            <a:avLst/>
          </a:prstGeom>
          <a:noFill/>
        </p:spPr>
        <p:txBody>
          <a:bodyPr wrap="square" rtlCol="0">
            <a:spAutoFit/>
          </a:bodyPr>
          <a:lstStyle/>
          <a:p>
            <a:r>
              <a:rPr lang="en-US" sz="6000" dirty="0">
                <a:solidFill>
                  <a:schemeClr val="bg1"/>
                </a:solidFill>
                <a:latin typeface="Helvetica" panose="020B0604020202020204" pitchFamily="34" charset="0"/>
                <a:cs typeface="Helvetica" panose="020B0604020202020204" pitchFamily="34" charset="0"/>
              </a:rPr>
              <a:t>University of Massachusetts Amherst</a:t>
            </a:r>
          </a:p>
        </p:txBody>
      </p:sp>
      <p:sp>
        <p:nvSpPr>
          <p:cNvPr id="9" name="TextBox 8">
            <a:extLst>
              <a:ext uri="{FF2B5EF4-FFF2-40B4-BE49-F238E27FC236}">
                <a16:creationId xmlns:a16="http://schemas.microsoft.com/office/drawing/2014/main" id="{3EBF13C3-A2F2-491C-5000-FD6FC87F35AE}"/>
              </a:ext>
            </a:extLst>
          </p:cNvPr>
          <p:cNvSpPr txBox="1"/>
          <p:nvPr/>
        </p:nvSpPr>
        <p:spPr>
          <a:xfrm>
            <a:off x="1100137" y="6119158"/>
            <a:ext cx="12341936" cy="923330"/>
          </a:xfrm>
          <a:prstGeom prst="rect">
            <a:avLst/>
          </a:prstGeom>
          <a:solidFill>
            <a:srgbClr val="003366"/>
          </a:solidFill>
          <a:ln>
            <a:solidFill>
              <a:schemeClr val="tx1"/>
            </a:solidFill>
          </a:ln>
        </p:spPr>
        <p:txBody>
          <a:bodyPr wrap="square" rtlCol="0">
            <a:spAutoFit/>
          </a:bodyPr>
          <a:lstStyle/>
          <a:p>
            <a:pPr algn="ctr"/>
            <a:r>
              <a:rPr lang="en-US" sz="5400" dirty="0">
                <a:solidFill>
                  <a:schemeClr val="bg1"/>
                </a:solidFill>
                <a:latin typeface="Helvetica" panose="020B0604020202020204" pitchFamily="34" charset="0"/>
                <a:cs typeface="Helvetica" panose="020B0604020202020204" pitchFamily="34" charset="0"/>
              </a:rPr>
              <a:t>Introduction</a:t>
            </a:r>
          </a:p>
        </p:txBody>
      </p:sp>
      <p:sp>
        <p:nvSpPr>
          <p:cNvPr id="10" name="TextBox 9">
            <a:extLst>
              <a:ext uri="{FF2B5EF4-FFF2-40B4-BE49-F238E27FC236}">
                <a16:creationId xmlns:a16="http://schemas.microsoft.com/office/drawing/2014/main" id="{85007478-575F-4C88-4B25-C9F19D258FBD}"/>
              </a:ext>
            </a:extLst>
          </p:cNvPr>
          <p:cNvSpPr txBox="1"/>
          <p:nvPr/>
        </p:nvSpPr>
        <p:spPr>
          <a:xfrm>
            <a:off x="1100137" y="7042488"/>
            <a:ext cx="12341936" cy="6863417"/>
          </a:xfrm>
          <a:prstGeom prst="rect">
            <a:avLst/>
          </a:prstGeom>
          <a:noFill/>
          <a:ln w="3175">
            <a:solidFill>
              <a:schemeClr val="tx1"/>
            </a:solidFill>
          </a:ln>
        </p:spPr>
        <p:txBody>
          <a:bodyPr wrap="square" rtlCol="0">
            <a:spAutoFit/>
          </a:bodyPr>
          <a:lstStyle/>
          <a:p>
            <a:pPr marL="571500" indent="-571500">
              <a:buFont typeface="Arial" panose="020B0604020202020204" pitchFamily="34" charset="0"/>
              <a:buChar char="•"/>
            </a:pPr>
            <a:r>
              <a:rPr lang="en-US" sz="4000" dirty="0">
                <a:latin typeface="Helvetica" panose="020B0604020202020204" pitchFamily="34" charset="0"/>
                <a:cs typeface="Helvetica" panose="020B0604020202020204" pitchFamily="34" charset="0"/>
              </a:rPr>
              <a:t>The computational bottle neck of modern Deep Learning is not only the execution of matrix multiplication, but it is also moving to the significant latency and power overhead that comes from fetching weights and activations from SRAM.  </a:t>
            </a:r>
          </a:p>
          <a:p>
            <a:endParaRPr lang="en-US" sz="4000" dirty="0">
              <a:latin typeface="Helvetica" panose="020B0604020202020204" pitchFamily="34" charset="0"/>
              <a:cs typeface="Helvetica" panose="020B0604020202020204" pitchFamily="34" charset="0"/>
            </a:endParaRPr>
          </a:p>
          <a:p>
            <a:pPr marL="571500" indent="-571500">
              <a:buFont typeface="Arial" panose="020B0604020202020204" pitchFamily="34" charset="0"/>
              <a:buChar char="•"/>
            </a:pPr>
            <a:r>
              <a:rPr lang="en-US" sz="4000" dirty="0">
                <a:latin typeface="Helvetica" panose="020B0604020202020204" pitchFamily="34" charset="0"/>
                <a:cs typeface="Helvetica" panose="020B0604020202020204" pitchFamily="34" charset="0"/>
              </a:rPr>
              <a:t>This project presents the end-to-end design, verification, and physical implementation of a custom Tensor Processing Unit (TPU) specifically architected to mitigate this memory bandwidth limitation </a:t>
            </a:r>
          </a:p>
        </p:txBody>
      </p:sp>
      <p:sp>
        <p:nvSpPr>
          <p:cNvPr id="11" name="TextBox 10">
            <a:extLst>
              <a:ext uri="{FF2B5EF4-FFF2-40B4-BE49-F238E27FC236}">
                <a16:creationId xmlns:a16="http://schemas.microsoft.com/office/drawing/2014/main" id="{3EA2C9A5-CDC9-B642-48A3-060A64E70117}"/>
              </a:ext>
            </a:extLst>
          </p:cNvPr>
          <p:cNvSpPr txBox="1"/>
          <p:nvPr/>
        </p:nvSpPr>
        <p:spPr>
          <a:xfrm>
            <a:off x="1100137" y="22370424"/>
            <a:ext cx="12341936" cy="923330"/>
          </a:xfrm>
          <a:prstGeom prst="rect">
            <a:avLst/>
          </a:prstGeom>
          <a:solidFill>
            <a:srgbClr val="003366"/>
          </a:solidFill>
          <a:ln>
            <a:solidFill>
              <a:schemeClr val="tx1"/>
            </a:solidFill>
          </a:ln>
        </p:spPr>
        <p:txBody>
          <a:bodyPr wrap="square" rtlCol="0">
            <a:spAutoFit/>
          </a:bodyPr>
          <a:lstStyle/>
          <a:p>
            <a:pPr algn="ctr"/>
            <a:r>
              <a:rPr lang="en-US" sz="5400" dirty="0">
                <a:solidFill>
                  <a:schemeClr val="bg1"/>
                </a:solidFill>
                <a:latin typeface="Helvetica" panose="020B0604020202020204" pitchFamily="34" charset="0"/>
                <a:cs typeface="Helvetica" panose="020B0604020202020204" pitchFamily="34" charset="0"/>
              </a:rPr>
              <a:t>Project Scope</a:t>
            </a:r>
          </a:p>
        </p:txBody>
      </p:sp>
      <p:sp>
        <p:nvSpPr>
          <p:cNvPr id="12" name="TextBox 11">
            <a:extLst>
              <a:ext uri="{FF2B5EF4-FFF2-40B4-BE49-F238E27FC236}">
                <a16:creationId xmlns:a16="http://schemas.microsoft.com/office/drawing/2014/main" id="{E3242C4E-1037-19CF-AC98-E15CF84C22F7}"/>
              </a:ext>
            </a:extLst>
          </p:cNvPr>
          <p:cNvSpPr txBox="1"/>
          <p:nvPr/>
        </p:nvSpPr>
        <p:spPr>
          <a:xfrm>
            <a:off x="1100137" y="23293754"/>
            <a:ext cx="12341935" cy="8094524"/>
          </a:xfrm>
          <a:prstGeom prst="rect">
            <a:avLst/>
          </a:prstGeom>
          <a:noFill/>
          <a:ln w="3175">
            <a:solidFill>
              <a:schemeClr val="tx1"/>
            </a:solidFill>
          </a:ln>
        </p:spPr>
        <p:txBody>
          <a:bodyPr wrap="square" rtlCol="0">
            <a:spAutoFit/>
          </a:bodyPr>
          <a:lstStyle/>
          <a:p>
            <a:pPr marL="571500" indent="-571500">
              <a:buFont typeface="Arial" panose="020B0604020202020204" pitchFamily="34" charset="0"/>
              <a:buChar char="•"/>
            </a:pPr>
            <a:r>
              <a:rPr lang="en-US" sz="4000" b="1" dirty="0">
                <a:latin typeface="Helvetica" panose="020B0604020202020204" pitchFamily="34" charset="0"/>
                <a:cs typeface="Helvetica" panose="020B0604020202020204" pitchFamily="34" charset="0"/>
              </a:rPr>
              <a:t>Architecture</a:t>
            </a:r>
            <a:r>
              <a:rPr lang="en-US" sz="4000" dirty="0">
                <a:latin typeface="Helvetica" panose="020B0604020202020204" pitchFamily="34" charset="0"/>
                <a:cs typeface="Helvetica" panose="020B0604020202020204" pitchFamily="34" charset="0"/>
              </a:rPr>
              <a:t>: Designed a 16x16 Weight-Stationary Systolic Array from scratch in </a:t>
            </a:r>
            <a:r>
              <a:rPr lang="en-US" sz="4000" dirty="0" err="1">
                <a:latin typeface="Helvetica" panose="020B0604020202020204" pitchFamily="34" charset="0"/>
                <a:cs typeface="Helvetica" panose="020B0604020202020204" pitchFamily="34" charset="0"/>
              </a:rPr>
              <a:t>SystemVerilog</a:t>
            </a:r>
            <a:r>
              <a:rPr lang="en-US" sz="4000" dirty="0">
                <a:latin typeface="Helvetica" panose="020B0604020202020204" pitchFamily="34" charset="0"/>
                <a:cs typeface="Helvetica" panose="020B0604020202020204" pitchFamily="34" charset="0"/>
              </a:rPr>
              <a:t> to maximize data reuse</a:t>
            </a:r>
          </a:p>
          <a:p>
            <a:endParaRPr lang="en-US" sz="4000" dirty="0">
              <a:latin typeface="Helvetica" panose="020B0604020202020204" pitchFamily="34" charset="0"/>
              <a:cs typeface="Helvetica" panose="020B0604020202020204" pitchFamily="34" charset="0"/>
            </a:endParaRPr>
          </a:p>
          <a:p>
            <a:pPr marL="571500" indent="-571500">
              <a:buFont typeface="Arial" panose="020B0604020202020204" pitchFamily="34" charset="0"/>
              <a:buChar char="•"/>
            </a:pPr>
            <a:r>
              <a:rPr lang="en-US" sz="4000" b="1" dirty="0">
                <a:latin typeface="Helvetica" panose="020B0604020202020204" pitchFamily="34" charset="0"/>
                <a:cs typeface="Helvetica" panose="020B0604020202020204" pitchFamily="34" charset="0"/>
              </a:rPr>
              <a:t>Verification: </a:t>
            </a:r>
            <a:r>
              <a:rPr lang="en-US" sz="4000" dirty="0">
                <a:latin typeface="Helvetica" panose="020B0604020202020204" pitchFamily="34" charset="0"/>
                <a:cs typeface="Helvetica" panose="020B0604020202020204" pitchFamily="34" charset="0"/>
              </a:rPr>
              <a:t>We implemented a Universal Verification Methodology (UVM) testbench and perform unit testing on each modules to subject the architecture to functional test, continuous volume stress tests, and mid-flight asynchronous resets</a:t>
            </a:r>
          </a:p>
          <a:p>
            <a:endParaRPr lang="en-US" sz="4000" dirty="0">
              <a:latin typeface="Helvetica" panose="020B0604020202020204" pitchFamily="34" charset="0"/>
              <a:cs typeface="Helvetica" panose="020B0604020202020204" pitchFamily="34" charset="0"/>
            </a:endParaRPr>
          </a:p>
          <a:p>
            <a:pPr marL="571500" indent="-571500">
              <a:buFont typeface="Arial" panose="020B0604020202020204" pitchFamily="34" charset="0"/>
              <a:buChar char="•"/>
            </a:pPr>
            <a:r>
              <a:rPr lang="en-US" sz="4000" b="1" dirty="0"/>
              <a:t>Physical Implementation:</a:t>
            </a:r>
            <a:r>
              <a:rPr lang="en-US" sz="4000" dirty="0"/>
              <a:t> </a:t>
            </a:r>
            <a:r>
              <a:rPr lang="en-US" sz="4000" dirty="0">
                <a:latin typeface="Helvetica" panose="020B0604020202020204" pitchFamily="34" charset="0"/>
                <a:cs typeface="Helvetica" panose="020B0604020202020204" pitchFamily="34" charset="0"/>
              </a:rPr>
              <a:t>Successfully pushed the verified RTL through Logic Synthesis and Place &amp; Route (</a:t>
            </a:r>
            <a:r>
              <a:rPr lang="en-US" sz="4000" dirty="0" err="1">
                <a:latin typeface="Helvetica" panose="020B0604020202020204" pitchFamily="34" charset="0"/>
                <a:cs typeface="Helvetica" panose="020B0604020202020204" pitchFamily="34" charset="0"/>
              </a:rPr>
              <a:t>PnR</a:t>
            </a:r>
            <a:r>
              <a:rPr lang="en-US" sz="4000" dirty="0">
                <a:latin typeface="Helvetica" panose="020B0604020202020204" pitchFamily="34" charset="0"/>
                <a:cs typeface="Helvetica" panose="020B0604020202020204" pitchFamily="34" charset="0"/>
              </a:rPr>
              <a:t>) targeting a 45nm process node</a:t>
            </a:r>
          </a:p>
        </p:txBody>
      </p:sp>
      <p:sp>
        <p:nvSpPr>
          <p:cNvPr id="15" name="TextBox 14">
            <a:extLst>
              <a:ext uri="{FF2B5EF4-FFF2-40B4-BE49-F238E27FC236}">
                <a16:creationId xmlns:a16="http://schemas.microsoft.com/office/drawing/2014/main" id="{A87EA067-22A9-E614-CF8D-003015C7D2C6}"/>
              </a:ext>
            </a:extLst>
          </p:cNvPr>
          <p:cNvSpPr txBox="1"/>
          <p:nvPr/>
        </p:nvSpPr>
        <p:spPr>
          <a:xfrm>
            <a:off x="5248092" y="20834557"/>
            <a:ext cx="6527665" cy="523220"/>
          </a:xfrm>
          <a:prstGeom prst="rect">
            <a:avLst/>
          </a:prstGeom>
          <a:noFill/>
        </p:spPr>
        <p:txBody>
          <a:bodyPr wrap="square" rtlCol="0">
            <a:spAutoFit/>
          </a:bodyPr>
          <a:lstStyle/>
          <a:p>
            <a:r>
              <a:rPr lang="en-US" sz="2800" dirty="0">
                <a:latin typeface="Helvetica" panose="020B0604020202020204" pitchFamily="34" charset="0"/>
                <a:cs typeface="Helvetica" panose="020B0604020202020204" pitchFamily="34" charset="0"/>
              </a:rPr>
              <a:t>Fig 1: Project Design Flow</a:t>
            </a:r>
          </a:p>
        </p:txBody>
      </p:sp>
      <p:sp>
        <p:nvSpPr>
          <p:cNvPr id="16" name="TextBox 15">
            <a:extLst>
              <a:ext uri="{FF2B5EF4-FFF2-40B4-BE49-F238E27FC236}">
                <a16:creationId xmlns:a16="http://schemas.microsoft.com/office/drawing/2014/main" id="{28EDDA69-C6B0-B22D-CD7F-E8E388297FF6}"/>
              </a:ext>
            </a:extLst>
          </p:cNvPr>
          <p:cNvSpPr txBox="1"/>
          <p:nvPr/>
        </p:nvSpPr>
        <p:spPr>
          <a:xfrm>
            <a:off x="15774632" y="20172837"/>
            <a:ext cx="12341935" cy="923330"/>
          </a:xfrm>
          <a:prstGeom prst="rect">
            <a:avLst/>
          </a:prstGeom>
          <a:solidFill>
            <a:srgbClr val="003366"/>
          </a:solidFill>
          <a:ln>
            <a:solidFill>
              <a:schemeClr val="tx1"/>
            </a:solidFill>
          </a:ln>
        </p:spPr>
        <p:txBody>
          <a:bodyPr wrap="square" rtlCol="0">
            <a:spAutoFit/>
          </a:bodyPr>
          <a:lstStyle/>
          <a:p>
            <a:pPr algn="ctr"/>
            <a:r>
              <a:rPr lang="en-US" sz="5400" dirty="0">
                <a:solidFill>
                  <a:schemeClr val="bg1"/>
                </a:solidFill>
                <a:latin typeface="Helvetica" panose="020B0604020202020204" pitchFamily="34" charset="0"/>
                <a:cs typeface="Helvetica" panose="020B0604020202020204" pitchFamily="34" charset="0"/>
              </a:rPr>
              <a:t>Hardware Architecture</a:t>
            </a:r>
          </a:p>
        </p:txBody>
      </p:sp>
      <p:sp>
        <p:nvSpPr>
          <p:cNvPr id="17" name="TextBox 16">
            <a:extLst>
              <a:ext uri="{FF2B5EF4-FFF2-40B4-BE49-F238E27FC236}">
                <a16:creationId xmlns:a16="http://schemas.microsoft.com/office/drawing/2014/main" id="{1D8CF0A1-0A17-87BD-3196-0856E051CB51}"/>
              </a:ext>
            </a:extLst>
          </p:cNvPr>
          <p:cNvSpPr txBox="1"/>
          <p:nvPr/>
        </p:nvSpPr>
        <p:spPr>
          <a:xfrm>
            <a:off x="15774632" y="21096168"/>
            <a:ext cx="12341935" cy="10556736"/>
          </a:xfrm>
          <a:prstGeom prst="rect">
            <a:avLst/>
          </a:prstGeom>
          <a:noFill/>
          <a:ln w="3175">
            <a:solidFill>
              <a:schemeClr val="tx1"/>
            </a:solidFill>
          </a:ln>
        </p:spPr>
        <p:txBody>
          <a:bodyPr wrap="square" rtlCol="0">
            <a:spAutoFit/>
          </a:bodyPr>
          <a:lstStyle/>
          <a:p>
            <a:r>
              <a:rPr lang="en-US" sz="4000" dirty="0">
                <a:latin typeface="Helvetica" panose="020B0604020202020204" pitchFamily="34" charset="0"/>
                <a:cs typeface="Helvetica" panose="020B0604020202020204" pitchFamily="34" charset="0"/>
              </a:rPr>
              <a:t>The TPU is built around a highly parallel, spatially aware </a:t>
            </a:r>
            <a:r>
              <a:rPr lang="en-US" sz="4000" dirty="0" err="1">
                <a:latin typeface="Helvetica" panose="020B0604020202020204" pitchFamily="34" charset="0"/>
                <a:cs typeface="Helvetica" panose="020B0604020202020204" pitchFamily="34" charset="0"/>
              </a:rPr>
              <a:t>datapath</a:t>
            </a:r>
            <a:r>
              <a:rPr lang="en-US" sz="4000" dirty="0">
                <a:latin typeface="Helvetica" panose="020B0604020202020204" pitchFamily="34" charset="0"/>
                <a:cs typeface="Helvetica" panose="020B0604020202020204" pitchFamily="34" charset="0"/>
              </a:rPr>
              <a:t> designed to maximize data reuse and achieve </a:t>
            </a:r>
            <a:r>
              <a:rPr lang="en-US" sz="4000" dirty="0" err="1">
                <a:latin typeface="Helvetica" panose="020B0604020202020204" pitchFamily="34" charset="0"/>
                <a:cs typeface="Helvetica" panose="020B0604020202020204" pitchFamily="34" charset="0"/>
              </a:rPr>
              <a:t>PnR</a:t>
            </a:r>
            <a:r>
              <a:rPr lang="en-US" sz="4000" dirty="0">
                <a:latin typeface="Helvetica" panose="020B0604020202020204" pitchFamily="34" charset="0"/>
                <a:cs typeface="Helvetica" panose="020B0604020202020204" pitchFamily="34" charset="0"/>
              </a:rPr>
              <a:t> execution in 45nm silicon.</a:t>
            </a:r>
          </a:p>
          <a:p>
            <a:pPr marL="571500" indent="-571500">
              <a:buFont typeface="Arial" panose="020B0604020202020204" pitchFamily="34" charset="0"/>
              <a:buChar char="•"/>
            </a:pPr>
            <a:r>
              <a:rPr lang="en-US" sz="4000" b="1" dirty="0">
                <a:latin typeface="Helvetica" panose="020B0604020202020204" pitchFamily="34" charset="0"/>
                <a:cs typeface="Helvetica" panose="020B0604020202020204" pitchFamily="34" charset="0"/>
              </a:rPr>
              <a:t>16x16 Systolic Array:</a:t>
            </a:r>
            <a:r>
              <a:rPr lang="en-US" sz="4000" dirty="0">
                <a:latin typeface="Helvetica" panose="020B0604020202020204" pitchFamily="34" charset="0"/>
                <a:cs typeface="Helvetica" panose="020B0604020202020204" pitchFamily="34" charset="0"/>
              </a:rPr>
              <a:t> The computational core relies on a tightly coupled grid of 256 Processing Elements (PEs). It utilizes a </a:t>
            </a:r>
            <a:r>
              <a:rPr lang="en-US" sz="4000" b="1" dirty="0">
                <a:latin typeface="Helvetica" panose="020B0604020202020204" pitchFamily="34" charset="0"/>
                <a:cs typeface="Helvetica" panose="020B0604020202020204" pitchFamily="34" charset="0"/>
              </a:rPr>
              <a:t>Weight-Stationary</a:t>
            </a:r>
            <a:r>
              <a:rPr lang="en-US" sz="4000" dirty="0">
                <a:latin typeface="Helvetica" panose="020B0604020202020204" pitchFamily="34" charset="0"/>
                <a:cs typeface="Helvetica" panose="020B0604020202020204" pitchFamily="34" charset="0"/>
              </a:rPr>
              <a:t> dataflow, pinning weights locally to eliminate redundant memory fetches  </a:t>
            </a:r>
          </a:p>
          <a:p>
            <a:endParaRPr lang="en-US" sz="4000" dirty="0">
              <a:latin typeface="Helvetica" panose="020B0604020202020204" pitchFamily="34" charset="0"/>
              <a:cs typeface="Helvetica" panose="020B0604020202020204" pitchFamily="34" charset="0"/>
            </a:endParaRPr>
          </a:p>
          <a:p>
            <a:pPr marL="571500" indent="-571500">
              <a:buFont typeface="Arial" panose="020B0604020202020204" pitchFamily="34" charset="0"/>
              <a:buChar char="•"/>
            </a:pPr>
            <a:r>
              <a:rPr lang="en-US" sz="4000" b="1" dirty="0">
                <a:latin typeface="Helvetica" panose="020B0604020202020204" pitchFamily="34" charset="0"/>
                <a:cs typeface="Helvetica" panose="020B0604020202020204" pitchFamily="34" charset="0"/>
              </a:rPr>
              <a:t>Processing Elements (PE):</a:t>
            </a:r>
            <a:r>
              <a:rPr lang="en-US" sz="4000" dirty="0">
                <a:latin typeface="Helvetica" panose="020B0604020202020204" pitchFamily="34" charset="0"/>
                <a:cs typeface="Helvetica" panose="020B0604020202020204" pitchFamily="34" charset="0"/>
              </a:rPr>
              <a:t> Each PE contains a high-speed Multiply-Accumulate (MAC) unit. During execution, activations are passed horizontally, while accumulating partial sums cascade vertically.</a:t>
            </a:r>
          </a:p>
          <a:p>
            <a:r>
              <a:rPr lang="en-US" sz="4000" dirty="0">
                <a:latin typeface="Helvetica" panose="020B0604020202020204" pitchFamily="34" charset="0"/>
                <a:cs typeface="Helvetica" panose="020B0604020202020204" pitchFamily="34" charset="0"/>
              </a:rPr>
              <a:t> </a:t>
            </a:r>
          </a:p>
          <a:p>
            <a:pPr marL="571500" indent="-571500">
              <a:buFont typeface="Arial" panose="020B0604020202020204" pitchFamily="34" charset="0"/>
              <a:buChar char="•"/>
            </a:pPr>
            <a:r>
              <a:rPr lang="en-US" sz="4000" b="1" dirty="0">
                <a:latin typeface="Helvetica" panose="020B0604020202020204" pitchFamily="34" charset="0"/>
                <a:cs typeface="Helvetica" panose="020B0604020202020204" pitchFamily="34" charset="0"/>
              </a:rPr>
              <a:t>Memory Organization:</a:t>
            </a:r>
            <a:r>
              <a:rPr lang="en-US" sz="4000" dirty="0">
                <a:latin typeface="Helvetica" panose="020B0604020202020204" pitchFamily="34" charset="0"/>
                <a:cs typeface="Helvetica" panose="020B0604020202020204" pitchFamily="34" charset="0"/>
              </a:rPr>
              <a:t> To feed the array, the design integrates local Activation and Weight SRAMs decoupled by Asynchronous FIFOs. </a:t>
            </a:r>
          </a:p>
        </p:txBody>
      </p:sp>
      <p:pic>
        <p:nvPicPr>
          <p:cNvPr id="25" name="Picture 24">
            <a:extLst>
              <a:ext uri="{FF2B5EF4-FFF2-40B4-BE49-F238E27FC236}">
                <a16:creationId xmlns:a16="http://schemas.microsoft.com/office/drawing/2014/main" id="{C2449EE9-97B6-13AC-3F25-A37D7A445891}"/>
              </a:ext>
            </a:extLst>
          </p:cNvPr>
          <p:cNvPicPr>
            <a:picLocks noChangeAspect="1"/>
          </p:cNvPicPr>
          <p:nvPr/>
        </p:nvPicPr>
        <p:blipFill>
          <a:blip r:embed="rId4"/>
          <a:stretch>
            <a:fillRect/>
          </a:stretch>
        </p:blipFill>
        <p:spPr>
          <a:xfrm>
            <a:off x="1863128" y="14829235"/>
            <a:ext cx="10932456" cy="5454748"/>
          </a:xfrm>
          <a:prstGeom prst="rect">
            <a:avLst/>
          </a:prstGeom>
        </p:spPr>
      </p:pic>
      <p:sp>
        <p:nvSpPr>
          <p:cNvPr id="26" name="TextBox 25">
            <a:extLst>
              <a:ext uri="{FF2B5EF4-FFF2-40B4-BE49-F238E27FC236}">
                <a16:creationId xmlns:a16="http://schemas.microsoft.com/office/drawing/2014/main" id="{EE3FD0E2-788E-8FBC-E2E0-4DC060CA7BE8}"/>
              </a:ext>
            </a:extLst>
          </p:cNvPr>
          <p:cNvSpPr txBox="1"/>
          <p:nvPr/>
        </p:nvSpPr>
        <p:spPr>
          <a:xfrm>
            <a:off x="20151201" y="12818176"/>
            <a:ext cx="5415512" cy="523220"/>
          </a:xfrm>
          <a:prstGeom prst="rect">
            <a:avLst/>
          </a:prstGeom>
          <a:noFill/>
        </p:spPr>
        <p:txBody>
          <a:bodyPr wrap="square" rtlCol="0">
            <a:spAutoFit/>
          </a:bodyPr>
          <a:lstStyle/>
          <a:p>
            <a:r>
              <a:rPr lang="en-US" sz="2800" dirty="0">
                <a:latin typeface="Helvetica" panose="020B0604020202020204" pitchFamily="34" charset="0"/>
                <a:cs typeface="Helvetica" panose="020B0604020202020204" pitchFamily="34" charset="0"/>
              </a:rPr>
              <a:t>Fig 2: DUT Diagram</a:t>
            </a:r>
          </a:p>
        </p:txBody>
      </p:sp>
      <p:sp>
        <p:nvSpPr>
          <p:cNvPr id="29" name="TextBox 28">
            <a:extLst>
              <a:ext uri="{FF2B5EF4-FFF2-40B4-BE49-F238E27FC236}">
                <a16:creationId xmlns:a16="http://schemas.microsoft.com/office/drawing/2014/main" id="{B8E2720B-CC82-AAA0-DDF1-76CC227AC27D}"/>
              </a:ext>
            </a:extLst>
          </p:cNvPr>
          <p:cNvSpPr txBox="1"/>
          <p:nvPr/>
        </p:nvSpPr>
        <p:spPr>
          <a:xfrm>
            <a:off x="30449128" y="6257242"/>
            <a:ext cx="12341935" cy="923330"/>
          </a:xfrm>
          <a:prstGeom prst="rect">
            <a:avLst/>
          </a:prstGeom>
          <a:solidFill>
            <a:srgbClr val="003366"/>
          </a:solidFill>
          <a:ln>
            <a:solidFill>
              <a:schemeClr val="tx1"/>
            </a:solidFill>
          </a:ln>
        </p:spPr>
        <p:txBody>
          <a:bodyPr wrap="square" rtlCol="0">
            <a:spAutoFit/>
          </a:bodyPr>
          <a:lstStyle/>
          <a:p>
            <a:pPr algn="ctr"/>
            <a:r>
              <a:rPr lang="en-US" sz="5400" dirty="0">
                <a:solidFill>
                  <a:schemeClr val="bg1"/>
                </a:solidFill>
                <a:latin typeface="Helvetica" panose="020B0604020202020204" pitchFamily="34" charset="0"/>
                <a:cs typeface="Helvetica" panose="020B0604020202020204" pitchFamily="34" charset="0"/>
              </a:rPr>
              <a:t>Verification Environment</a:t>
            </a:r>
          </a:p>
        </p:txBody>
      </p:sp>
      <p:sp>
        <p:nvSpPr>
          <p:cNvPr id="30" name="TextBox 29">
            <a:extLst>
              <a:ext uri="{FF2B5EF4-FFF2-40B4-BE49-F238E27FC236}">
                <a16:creationId xmlns:a16="http://schemas.microsoft.com/office/drawing/2014/main" id="{8478311D-C6AA-FC0E-1561-02408CBA078F}"/>
              </a:ext>
            </a:extLst>
          </p:cNvPr>
          <p:cNvSpPr txBox="1"/>
          <p:nvPr/>
        </p:nvSpPr>
        <p:spPr>
          <a:xfrm>
            <a:off x="30449128" y="7180573"/>
            <a:ext cx="12341935" cy="9941183"/>
          </a:xfrm>
          <a:prstGeom prst="rect">
            <a:avLst/>
          </a:prstGeom>
          <a:noFill/>
          <a:ln w="3175">
            <a:solidFill>
              <a:schemeClr val="tx1"/>
            </a:solidFill>
          </a:ln>
        </p:spPr>
        <p:txBody>
          <a:bodyPr wrap="square" rtlCol="0">
            <a:spAutoFit/>
          </a:bodyPr>
          <a:lstStyle/>
          <a:p>
            <a:r>
              <a:rPr lang="en-US" sz="4000" dirty="0">
                <a:latin typeface="Helvetica" panose="020B0604020202020204" pitchFamily="34" charset="0"/>
                <a:cs typeface="Helvetica" panose="020B0604020202020204" pitchFamily="34" charset="0"/>
              </a:rPr>
              <a:t>To guarantee that the design works before going for synthesizing the design, we have performed 2 methods for testing our design: </a:t>
            </a:r>
          </a:p>
          <a:p>
            <a:pPr marL="571500" indent="-571500">
              <a:buFont typeface="Arial" panose="020B0604020202020204" pitchFamily="34" charset="0"/>
              <a:buChar char="•"/>
            </a:pPr>
            <a:r>
              <a:rPr lang="en-US" sz="4000" b="1" dirty="0">
                <a:latin typeface="Helvetica" panose="020B0604020202020204" pitchFamily="34" charset="0"/>
                <a:cs typeface="Helvetica" panose="020B0604020202020204" pitchFamily="34" charset="0"/>
              </a:rPr>
              <a:t>Unit Testing (while developing design): </a:t>
            </a:r>
            <a:r>
              <a:rPr lang="en-US" sz="4000" dirty="0">
                <a:latin typeface="Helvetica" panose="020B0604020202020204" pitchFamily="34" charset="0"/>
                <a:cs typeface="Helvetica" panose="020B0604020202020204" pitchFamily="34" charset="0"/>
              </a:rPr>
              <a:t>We test out each modules of the design with Vivado and verifying the functionality through looking at waveforms after simulation simple testbench. </a:t>
            </a:r>
          </a:p>
          <a:p>
            <a:pPr marL="571500" indent="-571500">
              <a:buFont typeface="Arial" panose="020B0604020202020204" pitchFamily="34" charset="0"/>
              <a:buChar char="•"/>
            </a:pPr>
            <a:r>
              <a:rPr lang="en-US" sz="4000" b="1" dirty="0">
                <a:latin typeface="Helvetica" panose="020B0604020202020204" pitchFamily="34" charset="0"/>
                <a:cs typeface="Helvetica" panose="020B0604020202020204" pitchFamily="34" charset="0"/>
              </a:rPr>
              <a:t>UVM (after finishing the design): </a:t>
            </a:r>
            <a:r>
              <a:rPr lang="en-US" sz="4000" dirty="0">
                <a:latin typeface="Helvetica" panose="020B0604020202020204" pitchFamily="34" charset="0"/>
                <a:cs typeface="Helvetica" panose="020B0604020202020204" pitchFamily="34" charset="0"/>
              </a:rPr>
              <a:t>We implemented an UVM environment and creates testbench for testing edge cases and pulling constrained random inputs for both input and output. A reference model was built into the UVM scoreboard to dynamically calculated the expected outputs and testing the timing of the pipeline and the functionality of the design. ( Architecture is shown in Fig 3) </a:t>
            </a:r>
          </a:p>
        </p:txBody>
      </p:sp>
      <p:pic>
        <p:nvPicPr>
          <p:cNvPr id="1026" name="Picture 2">
            <a:extLst>
              <a:ext uri="{FF2B5EF4-FFF2-40B4-BE49-F238E27FC236}">
                <a16:creationId xmlns:a16="http://schemas.microsoft.com/office/drawing/2014/main" id="{0C55611D-1343-098A-1A6B-0C7EE1C44F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05439" y="13596645"/>
            <a:ext cx="8633834" cy="5725109"/>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3ACAD280-71DE-5E14-AE93-D83C3E19A003}"/>
              </a:ext>
            </a:extLst>
          </p:cNvPr>
          <p:cNvSpPr txBox="1"/>
          <p:nvPr/>
        </p:nvSpPr>
        <p:spPr>
          <a:xfrm>
            <a:off x="19714771" y="19485685"/>
            <a:ext cx="5415512" cy="523220"/>
          </a:xfrm>
          <a:prstGeom prst="rect">
            <a:avLst/>
          </a:prstGeom>
          <a:noFill/>
        </p:spPr>
        <p:txBody>
          <a:bodyPr wrap="square" rtlCol="0">
            <a:spAutoFit/>
          </a:bodyPr>
          <a:lstStyle/>
          <a:p>
            <a:r>
              <a:rPr lang="en-US" sz="2800" dirty="0">
                <a:latin typeface="Helvetica" panose="020B0604020202020204" pitchFamily="34" charset="0"/>
                <a:cs typeface="Helvetica" panose="020B0604020202020204" pitchFamily="34" charset="0"/>
              </a:rPr>
              <a:t>Fig 3: UVM Architecture</a:t>
            </a:r>
          </a:p>
        </p:txBody>
      </p:sp>
      <p:sp>
        <p:nvSpPr>
          <p:cNvPr id="32" name="TextBox 31">
            <a:extLst>
              <a:ext uri="{FF2B5EF4-FFF2-40B4-BE49-F238E27FC236}">
                <a16:creationId xmlns:a16="http://schemas.microsoft.com/office/drawing/2014/main" id="{9E6CA6C8-59F8-3770-D968-2D0DB8430FFA}"/>
              </a:ext>
            </a:extLst>
          </p:cNvPr>
          <p:cNvSpPr txBox="1"/>
          <p:nvPr/>
        </p:nvSpPr>
        <p:spPr>
          <a:xfrm>
            <a:off x="30449126" y="18562355"/>
            <a:ext cx="12341935" cy="923330"/>
          </a:xfrm>
          <a:prstGeom prst="rect">
            <a:avLst/>
          </a:prstGeom>
          <a:solidFill>
            <a:srgbClr val="003366"/>
          </a:solidFill>
          <a:ln>
            <a:solidFill>
              <a:schemeClr val="tx1"/>
            </a:solidFill>
          </a:ln>
        </p:spPr>
        <p:txBody>
          <a:bodyPr wrap="square" rtlCol="0">
            <a:spAutoFit/>
          </a:bodyPr>
          <a:lstStyle/>
          <a:p>
            <a:pPr algn="ctr"/>
            <a:r>
              <a:rPr lang="en-US" sz="5400" dirty="0">
                <a:solidFill>
                  <a:schemeClr val="bg1"/>
                </a:solidFill>
                <a:latin typeface="Helvetica" panose="020B0604020202020204" pitchFamily="34" charset="0"/>
                <a:cs typeface="Helvetica" panose="020B0604020202020204" pitchFamily="34" charset="0"/>
              </a:rPr>
              <a:t>Results</a:t>
            </a:r>
          </a:p>
        </p:txBody>
      </p:sp>
      <p:sp>
        <p:nvSpPr>
          <p:cNvPr id="33" name="TextBox 32">
            <a:extLst>
              <a:ext uri="{FF2B5EF4-FFF2-40B4-BE49-F238E27FC236}">
                <a16:creationId xmlns:a16="http://schemas.microsoft.com/office/drawing/2014/main" id="{87939D7C-ABC1-1589-F2B4-845CC76BF1F7}"/>
              </a:ext>
            </a:extLst>
          </p:cNvPr>
          <p:cNvSpPr txBox="1"/>
          <p:nvPr/>
        </p:nvSpPr>
        <p:spPr>
          <a:xfrm>
            <a:off x="30449126" y="19485686"/>
            <a:ext cx="12341935" cy="8094524"/>
          </a:xfrm>
          <a:prstGeom prst="rect">
            <a:avLst/>
          </a:prstGeom>
          <a:noFill/>
          <a:ln w="3175">
            <a:solidFill>
              <a:schemeClr val="tx1"/>
            </a:solidFill>
          </a:ln>
        </p:spPr>
        <p:txBody>
          <a:bodyPr wrap="square" rtlCol="0">
            <a:spAutoFit/>
          </a:bodyPr>
          <a:lstStyle/>
          <a:p>
            <a:pPr marL="571500" indent="-571500">
              <a:buFont typeface="Arial" panose="020B0604020202020204" pitchFamily="34" charset="0"/>
              <a:buChar char="•"/>
            </a:pPr>
            <a:r>
              <a:rPr lang="en-US" sz="4000" dirty="0">
                <a:latin typeface="Helvetica" panose="020B0604020202020204" pitchFamily="34" charset="0"/>
                <a:cs typeface="Helvetica" panose="020B0604020202020204" pitchFamily="34" charset="0"/>
              </a:rPr>
              <a:t>The design achieved functional correctness against the reference model, with inputs for weights and activation from different cases (negative, positive and 0). The design was able to perform correctly under processing 100 continuous, randomized matrix streams without pipeline stalls and demonstrated flawless recovery from asynchronous mid-flight resets</a:t>
            </a:r>
            <a:r>
              <a:rPr lang="en-US" sz="4000" dirty="0"/>
              <a:t>.  </a:t>
            </a:r>
          </a:p>
          <a:p>
            <a:pPr marL="571500" indent="-571500">
              <a:buFont typeface="Arial" panose="020B0604020202020204" pitchFamily="34" charset="0"/>
              <a:buChar char="•"/>
            </a:pPr>
            <a:r>
              <a:rPr lang="en-US" sz="4000" dirty="0">
                <a:latin typeface="Helvetica" panose="020B0604020202020204" pitchFamily="34" charset="0"/>
                <a:cs typeface="Helvetica" panose="020B0604020202020204" pitchFamily="34" charset="0"/>
              </a:rPr>
              <a:t>The verified RTL was synthesized using Synopsys Design Compiler. The gate-level netlist successfully met strict setup timing constraints for a </a:t>
            </a:r>
            <a:r>
              <a:rPr lang="en-US" sz="4000" b="1" dirty="0">
                <a:latin typeface="Helvetica" panose="020B0604020202020204" pitchFamily="34" charset="0"/>
                <a:cs typeface="Helvetica" panose="020B0604020202020204" pitchFamily="34" charset="0"/>
              </a:rPr>
              <a:t>200 MHz</a:t>
            </a:r>
            <a:r>
              <a:rPr lang="en-US" sz="4000" dirty="0">
                <a:latin typeface="Helvetica" panose="020B0604020202020204" pitchFamily="34" charset="0"/>
                <a:cs typeface="Helvetica" panose="020B0604020202020204" pitchFamily="34" charset="0"/>
              </a:rPr>
              <a:t> (5.0 ns) target clock, achieving a healthy positive slack of </a:t>
            </a:r>
            <a:r>
              <a:rPr lang="en-US" sz="4000" b="1" dirty="0">
                <a:latin typeface="Helvetica" panose="020B0604020202020204" pitchFamily="34" charset="0"/>
                <a:cs typeface="Helvetica" panose="020B0604020202020204" pitchFamily="34" charset="0"/>
              </a:rPr>
              <a:t>+2.71 ns</a:t>
            </a:r>
            <a:r>
              <a:rPr lang="en-US" sz="4000" dirty="0">
                <a:latin typeface="Helvetica" panose="020B0604020202020204" pitchFamily="34" charset="0"/>
                <a:cs typeface="Helvetica" panose="020B0604020202020204" pitchFamily="34" charset="0"/>
              </a:rPr>
              <a:t>.</a:t>
            </a:r>
          </a:p>
        </p:txBody>
      </p:sp>
      <p:graphicFrame>
        <p:nvGraphicFramePr>
          <p:cNvPr id="34" name="Table 33">
            <a:extLst>
              <a:ext uri="{FF2B5EF4-FFF2-40B4-BE49-F238E27FC236}">
                <a16:creationId xmlns:a16="http://schemas.microsoft.com/office/drawing/2014/main" id="{8A79C91E-A95A-6A19-233F-D6CF98A75BBE}"/>
              </a:ext>
            </a:extLst>
          </p:cNvPr>
          <p:cNvGraphicFramePr>
            <a:graphicFrameLocks noGrp="1"/>
          </p:cNvGraphicFramePr>
          <p:nvPr>
            <p:extLst>
              <p:ext uri="{D42A27DB-BD31-4B8C-83A1-F6EECF244321}">
                <p14:modId xmlns:p14="http://schemas.microsoft.com/office/powerpoint/2010/main" val="3265846538"/>
              </p:ext>
            </p:extLst>
          </p:nvPr>
        </p:nvGraphicFramePr>
        <p:xfrm>
          <a:off x="30449126" y="28139229"/>
          <a:ext cx="12341935" cy="3513675"/>
        </p:xfrm>
        <a:graphic>
          <a:graphicData uri="http://schemas.openxmlformats.org/drawingml/2006/table">
            <a:tbl>
              <a:tblPr firstRow="1" bandRow="1">
                <a:tableStyleId>{5C22544A-7EE6-4342-B048-85BDC9FD1C3A}</a:tableStyleId>
              </a:tblPr>
              <a:tblGrid>
                <a:gridCol w="2774075">
                  <a:extLst>
                    <a:ext uri="{9D8B030D-6E8A-4147-A177-3AD203B41FA5}">
                      <a16:colId xmlns:a16="http://schemas.microsoft.com/office/drawing/2014/main" val="2630435660"/>
                    </a:ext>
                  </a:extLst>
                </a:gridCol>
                <a:gridCol w="2633819">
                  <a:extLst>
                    <a:ext uri="{9D8B030D-6E8A-4147-A177-3AD203B41FA5}">
                      <a16:colId xmlns:a16="http://schemas.microsoft.com/office/drawing/2014/main" val="1257307159"/>
                    </a:ext>
                  </a:extLst>
                </a:gridCol>
                <a:gridCol w="1938180">
                  <a:extLst>
                    <a:ext uri="{9D8B030D-6E8A-4147-A177-3AD203B41FA5}">
                      <a16:colId xmlns:a16="http://schemas.microsoft.com/office/drawing/2014/main" val="77027282"/>
                    </a:ext>
                  </a:extLst>
                </a:gridCol>
                <a:gridCol w="2844800">
                  <a:extLst>
                    <a:ext uri="{9D8B030D-6E8A-4147-A177-3AD203B41FA5}">
                      <a16:colId xmlns:a16="http://schemas.microsoft.com/office/drawing/2014/main" val="2925883972"/>
                    </a:ext>
                  </a:extLst>
                </a:gridCol>
                <a:gridCol w="2151061">
                  <a:extLst>
                    <a:ext uri="{9D8B030D-6E8A-4147-A177-3AD203B41FA5}">
                      <a16:colId xmlns:a16="http://schemas.microsoft.com/office/drawing/2014/main" val="3540593768"/>
                    </a:ext>
                  </a:extLst>
                </a:gridCol>
              </a:tblGrid>
              <a:tr h="1706586">
                <a:tc>
                  <a:txBody>
                    <a:bodyPr/>
                    <a:lstStyle/>
                    <a:p>
                      <a:pPr algn="ctr"/>
                      <a:r>
                        <a:rPr lang="en-US" sz="4000" dirty="0">
                          <a:latin typeface="Helvetica" panose="020B0604020202020204" pitchFamily="34" charset="0"/>
                          <a:cs typeface="Helvetica" panose="020B0604020202020204" pitchFamily="34" charset="0"/>
                        </a:rPr>
                        <a:t>Achieved Frequency</a:t>
                      </a:r>
                    </a:p>
                  </a:txBody>
                  <a:tcPr>
                    <a:solidFill>
                      <a:srgbClr val="003366"/>
                    </a:solidFill>
                  </a:tcPr>
                </a:tc>
                <a:tc>
                  <a:txBody>
                    <a:bodyPr/>
                    <a:lstStyle/>
                    <a:p>
                      <a:pPr algn="ctr"/>
                      <a:r>
                        <a:rPr lang="en-US" sz="4000" dirty="0">
                          <a:latin typeface="Helvetica" panose="020B0604020202020204" pitchFamily="34" charset="0"/>
                          <a:cs typeface="Helvetica" panose="020B0604020202020204" pitchFamily="34" charset="0"/>
                        </a:rPr>
                        <a:t>Timing Slack</a:t>
                      </a:r>
                    </a:p>
                  </a:txBody>
                  <a:tcPr>
                    <a:solidFill>
                      <a:srgbClr val="003366"/>
                    </a:solidFill>
                  </a:tcPr>
                </a:tc>
                <a:tc>
                  <a:txBody>
                    <a:bodyPr/>
                    <a:lstStyle/>
                    <a:p>
                      <a:pPr algn="ctr"/>
                      <a:r>
                        <a:rPr lang="en-US" sz="4000" dirty="0">
                          <a:latin typeface="Helvetica" panose="020B0604020202020204" pitchFamily="34" charset="0"/>
                          <a:cs typeface="Helvetica" panose="020B0604020202020204" pitchFamily="34" charset="0"/>
                        </a:rPr>
                        <a:t>Total Area</a:t>
                      </a:r>
                    </a:p>
                  </a:txBody>
                  <a:tcPr>
                    <a:solidFill>
                      <a:srgbClr val="003366"/>
                    </a:solidFill>
                  </a:tcPr>
                </a:tc>
                <a:tc>
                  <a:txBody>
                    <a:bodyPr/>
                    <a:lstStyle/>
                    <a:p>
                      <a:pPr algn="ctr"/>
                      <a:r>
                        <a:rPr lang="en-US" sz="4000" dirty="0">
                          <a:latin typeface="Helvetica" panose="020B0604020202020204" pitchFamily="34" charset="0"/>
                          <a:cs typeface="Helvetica" panose="020B0604020202020204" pitchFamily="34" charset="0"/>
                        </a:rPr>
                        <a:t>Dynamic Pow</a:t>
                      </a:r>
                    </a:p>
                  </a:txBody>
                  <a:tcPr>
                    <a:solidFill>
                      <a:srgbClr val="003366"/>
                    </a:solidFill>
                  </a:tcPr>
                </a:tc>
                <a:tc>
                  <a:txBody>
                    <a:bodyPr/>
                    <a:lstStyle/>
                    <a:p>
                      <a:pPr algn="ctr"/>
                      <a:r>
                        <a:rPr lang="en-US" sz="4000" dirty="0">
                          <a:latin typeface="Helvetica" panose="020B0604020202020204" pitchFamily="34" charset="0"/>
                          <a:cs typeface="Helvetica" panose="020B0604020202020204" pitchFamily="34" charset="0"/>
                        </a:rPr>
                        <a:t>Static Pow</a:t>
                      </a:r>
                    </a:p>
                  </a:txBody>
                  <a:tcPr>
                    <a:solidFill>
                      <a:srgbClr val="003366"/>
                    </a:solidFill>
                  </a:tcPr>
                </a:tc>
                <a:extLst>
                  <a:ext uri="{0D108BD9-81ED-4DB2-BD59-A6C34878D82A}">
                    <a16:rowId xmlns:a16="http://schemas.microsoft.com/office/drawing/2014/main" val="2829720953"/>
                  </a:ext>
                </a:extLst>
              </a:tr>
              <a:tr h="1807089">
                <a:tc>
                  <a:txBody>
                    <a:bodyPr/>
                    <a:lstStyle/>
                    <a:p>
                      <a:pPr algn="ctr"/>
                      <a:r>
                        <a:rPr lang="en-US" sz="4000" dirty="0">
                          <a:latin typeface="Helvetica" panose="020B0604020202020204" pitchFamily="34" charset="0"/>
                          <a:cs typeface="Helvetica" panose="020B0604020202020204" pitchFamily="34" charset="0"/>
                        </a:rPr>
                        <a:t>~436 MHz</a:t>
                      </a:r>
                    </a:p>
                  </a:txBody>
                  <a:tcPr>
                    <a:solidFill>
                      <a:schemeClr val="tx2">
                        <a:lumMod val="10000"/>
                        <a:lumOff val="90000"/>
                      </a:schemeClr>
                    </a:solidFill>
                  </a:tcPr>
                </a:tc>
                <a:tc>
                  <a:txBody>
                    <a:bodyPr/>
                    <a:lstStyle/>
                    <a:p>
                      <a:pPr algn="ctr"/>
                      <a:r>
                        <a:rPr lang="en-US" sz="4000" dirty="0">
                          <a:latin typeface="Helvetica" panose="020B0604020202020204" pitchFamily="34" charset="0"/>
                          <a:cs typeface="Helvetica" panose="020B0604020202020204" pitchFamily="34" charset="0"/>
                        </a:rPr>
                        <a:t>+2.71 ns</a:t>
                      </a:r>
                    </a:p>
                  </a:txBody>
                  <a:tcPr>
                    <a:solidFill>
                      <a:schemeClr val="tx2">
                        <a:lumMod val="10000"/>
                        <a:lumOff val="90000"/>
                      </a:schemeClr>
                    </a:solidFill>
                  </a:tcPr>
                </a:tc>
                <a:tc>
                  <a:txBody>
                    <a:bodyPr/>
                    <a:lstStyle/>
                    <a:p>
                      <a:pPr algn="ctr"/>
                      <a:r>
                        <a:rPr lang="en-US" sz="4000" dirty="0">
                          <a:latin typeface="Helvetica" panose="020B0604020202020204" pitchFamily="34" charset="0"/>
                          <a:cs typeface="Helvetica" panose="020B0604020202020204" pitchFamily="34" charset="0"/>
                        </a:rPr>
                        <a:t>1.92 mm</a:t>
                      </a:r>
                      <a:r>
                        <a:rPr lang="en-US" sz="4400" dirty="0">
                          <a:latin typeface="Helvetica" panose="020B0604020202020204" pitchFamily="34" charset="0"/>
                          <a:cs typeface="Helvetica" panose="020B0604020202020204" pitchFamily="34" charset="0"/>
                        </a:rPr>
                        <a:t>2</a:t>
                      </a:r>
                      <a:endParaRPr lang="en-US" sz="4000" dirty="0">
                        <a:latin typeface="Helvetica" panose="020B0604020202020204" pitchFamily="34" charset="0"/>
                        <a:cs typeface="Helvetica" panose="020B0604020202020204" pitchFamily="34" charset="0"/>
                      </a:endParaRPr>
                    </a:p>
                  </a:txBody>
                  <a:tcPr>
                    <a:solidFill>
                      <a:schemeClr val="tx2">
                        <a:lumMod val="10000"/>
                        <a:lumOff val="90000"/>
                      </a:schemeClr>
                    </a:solidFill>
                  </a:tcPr>
                </a:tc>
                <a:tc>
                  <a:txBody>
                    <a:bodyPr/>
                    <a:lstStyle/>
                    <a:p>
                      <a:pPr algn="ctr"/>
                      <a:r>
                        <a:rPr lang="en-US" sz="4000" dirty="0">
                          <a:latin typeface="Helvetica" panose="020B0604020202020204" pitchFamily="34" charset="0"/>
                          <a:cs typeface="Helvetica" panose="020B0604020202020204" pitchFamily="34" charset="0"/>
                        </a:rPr>
                        <a:t>95.8 </a:t>
                      </a:r>
                      <a:r>
                        <a:rPr lang="en-US" sz="4000" dirty="0" err="1">
                          <a:latin typeface="Helvetica" panose="020B0604020202020204" pitchFamily="34" charset="0"/>
                          <a:cs typeface="Helvetica" panose="020B0604020202020204" pitchFamily="34" charset="0"/>
                        </a:rPr>
                        <a:t>mW</a:t>
                      </a:r>
                      <a:endParaRPr lang="en-US" sz="4000" dirty="0">
                        <a:latin typeface="Helvetica" panose="020B0604020202020204" pitchFamily="34" charset="0"/>
                        <a:cs typeface="Helvetica" panose="020B0604020202020204" pitchFamily="34" charset="0"/>
                      </a:endParaRPr>
                    </a:p>
                  </a:txBody>
                  <a:tcPr>
                    <a:solidFill>
                      <a:schemeClr val="tx2">
                        <a:lumMod val="10000"/>
                        <a:lumOff val="90000"/>
                      </a:schemeClr>
                    </a:solidFill>
                  </a:tcPr>
                </a:tc>
                <a:tc>
                  <a:txBody>
                    <a:bodyPr/>
                    <a:lstStyle/>
                    <a:p>
                      <a:pPr algn="ctr"/>
                      <a:r>
                        <a:rPr lang="en-US" sz="4000" dirty="0">
                          <a:latin typeface="Helvetica" panose="020B0604020202020204" pitchFamily="34" charset="0"/>
                          <a:cs typeface="Helvetica" panose="020B0604020202020204" pitchFamily="34" charset="0"/>
                        </a:rPr>
                        <a:t>0.12 </a:t>
                      </a:r>
                      <a:r>
                        <a:rPr lang="en-US" sz="4000" dirty="0" err="1">
                          <a:latin typeface="Helvetica" panose="020B0604020202020204" pitchFamily="34" charset="0"/>
                          <a:cs typeface="Helvetica" panose="020B0604020202020204" pitchFamily="34" charset="0"/>
                        </a:rPr>
                        <a:t>mW</a:t>
                      </a:r>
                      <a:endParaRPr lang="en-US" sz="4000" dirty="0">
                        <a:latin typeface="Helvetica" panose="020B0604020202020204" pitchFamily="34" charset="0"/>
                        <a:cs typeface="Helvetica" panose="020B0604020202020204" pitchFamily="34" charset="0"/>
                      </a:endParaRPr>
                    </a:p>
                  </a:txBody>
                  <a:tcPr>
                    <a:solidFill>
                      <a:schemeClr val="tx2">
                        <a:lumMod val="10000"/>
                        <a:lumOff val="90000"/>
                      </a:schemeClr>
                    </a:solidFill>
                  </a:tcPr>
                </a:tc>
                <a:extLst>
                  <a:ext uri="{0D108BD9-81ED-4DB2-BD59-A6C34878D82A}">
                    <a16:rowId xmlns:a16="http://schemas.microsoft.com/office/drawing/2014/main" val="711015187"/>
                  </a:ext>
                </a:extLst>
              </a:tr>
            </a:tbl>
          </a:graphicData>
        </a:graphic>
      </p:graphicFrame>
      <p:sp>
        <p:nvSpPr>
          <p:cNvPr id="35" name="TextBox 34">
            <a:extLst>
              <a:ext uri="{FF2B5EF4-FFF2-40B4-BE49-F238E27FC236}">
                <a16:creationId xmlns:a16="http://schemas.microsoft.com/office/drawing/2014/main" id="{07D673E6-2340-07EB-CB42-EE1888F031E3}"/>
              </a:ext>
            </a:extLst>
          </p:cNvPr>
          <p:cNvSpPr txBox="1"/>
          <p:nvPr/>
        </p:nvSpPr>
        <p:spPr>
          <a:xfrm>
            <a:off x="33737550" y="31652904"/>
            <a:ext cx="10661650" cy="615553"/>
          </a:xfrm>
          <a:prstGeom prst="rect">
            <a:avLst/>
          </a:prstGeom>
          <a:noFill/>
        </p:spPr>
        <p:txBody>
          <a:bodyPr wrap="square" rtlCol="0">
            <a:spAutoFit/>
          </a:bodyPr>
          <a:lstStyle/>
          <a:p>
            <a:r>
              <a:rPr lang="en-US" sz="3400" dirty="0">
                <a:latin typeface="Helvetica" panose="020B0604020202020204" pitchFamily="34" charset="0"/>
                <a:cs typeface="Helvetica" panose="020B0604020202020204" pitchFamily="34" charset="0"/>
              </a:rPr>
              <a:t>Table 1: Result after synthesis</a:t>
            </a:r>
          </a:p>
        </p:txBody>
      </p:sp>
    </p:spTree>
    <p:extLst>
      <p:ext uri="{BB962C8B-B14F-4D97-AF65-F5344CB8AC3E}">
        <p14:creationId xmlns:p14="http://schemas.microsoft.com/office/powerpoint/2010/main" val="391614127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170</TotalTime>
  <Words>537</Words>
  <Application>Microsoft Office PowerPoint</Application>
  <PresentationFormat>Custom</PresentationFormat>
  <Paragraphs>42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Helvetica</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Hien Nguyen</dc:creator>
  <cp:lastModifiedBy>Hien Nguyen</cp:lastModifiedBy>
  <cp:revision>2</cp:revision>
  <dcterms:created xsi:type="dcterms:W3CDTF">2026-04-26T22:27:40Z</dcterms:created>
  <dcterms:modified xsi:type="dcterms:W3CDTF">2026-04-27T01:21:05Z</dcterms:modified>
</cp:coreProperties>
</file>